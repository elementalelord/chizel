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Clear Sans Bold" charset="1" panose="020B0803030202020304"/>
      <p:regular r:id="rId17"/>
    </p:embeddedFont>
    <p:embeddedFont>
      <p:font typeface="Aileron Bold" charset="1" panose="000008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7788149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14622525" y="472949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15902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2563081" y="9263294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596732" y="3624625"/>
            <a:ext cx="13094536" cy="1384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340"/>
              </a:lnSpc>
            </a:pPr>
            <a:r>
              <a:rPr lang="en-US" b="true" sz="810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CHIZEL – THE GIT WE NEED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409760" y="5394066"/>
            <a:ext cx="9468479" cy="688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43"/>
              </a:lnSpc>
            </a:pPr>
            <a:r>
              <a:rPr lang="en-US" b="true" sz="403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Final Year Project - Presented By: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251939" y="6341069"/>
            <a:ext cx="3784122" cy="19297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85"/>
              </a:lnSpc>
            </a:pPr>
            <a:r>
              <a:rPr lang="en-US" b="true" sz="277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Bilal Hammoud</a:t>
            </a:r>
          </a:p>
          <a:p>
            <a:pPr algn="ctr">
              <a:lnSpc>
                <a:spcPts val="3885"/>
              </a:lnSpc>
            </a:pPr>
            <a:r>
              <a:rPr lang="en-US" b="true" sz="277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Omar Hammoud</a:t>
            </a:r>
          </a:p>
          <a:p>
            <a:pPr algn="ctr">
              <a:lnSpc>
                <a:spcPts val="3885"/>
              </a:lnSpc>
            </a:pPr>
            <a:r>
              <a:rPr lang="en-US" b="true" sz="277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Charbel Fares</a:t>
            </a:r>
          </a:p>
          <a:p>
            <a:pPr algn="ctr" marL="0" indent="0" lvl="0">
              <a:lnSpc>
                <a:spcPts val="3885"/>
              </a:lnSpc>
            </a:pPr>
            <a:r>
              <a:rPr lang="en-US" b="true" sz="277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Patrick Farah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58745" y="3473994"/>
            <a:ext cx="15170510" cy="4812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517"/>
              </a:lnSpc>
            </a:pPr>
            <a:r>
              <a:rPr lang="en-US" b="true" sz="2512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Chizel is a lightweight, open-source alternative to GitHub — built to provide essential version control and collaboration features without AI integration or corporate complexity.</a:t>
            </a:r>
          </a:p>
          <a:p>
            <a:pPr algn="just" marL="0" indent="0" lvl="0">
              <a:lnSpc>
                <a:spcPts val="3517"/>
              </a:lnSpc>
            </a:pPr>
          </a:p>
          <a:p>
            <a:pPr algn="just" marL="0" indent="0" lvl="0">
              <a:lnSpc>
                <a:spcPts val="3517"/>
              </a:lnSpc>
            </a:pPr>
            <a:r>
              <a:rPr lang="en-US" b="true" sz="2512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Objective: Create a transparent, efficient, and developer-focused platform using C for performance and React for usability.</a:t>
            </a:r>
          </a:p>
          <a:p>
            <a:pPr algn="just" marL="0" indent="0" lvl="0">
              <a:lnSpc>
                <a:spcPts val="3517"/>
              </a:lnSpc>
            </a:pPr>
          </a:p>
          <a:p>
            <a:pPr algn="just" marL="0" indent="0" lvl="0">
              <a:lnSpc>
                <a:spcPts val="3517"/>
              </a:lnSpc>
            </a:pPr>
            <a:r>
              <a:rPr lang="en-US" b="true" sz="2512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Key Features:</a:t>
            </a:r>
          </a:p>
          <a:p>
            <a:pPr algn="just" marL="0" indent="0" lvl="0">
              <a:lnSpc>
                <a:spcPts val="3517"/>
              </a:lnSpc>
            </a:pPr>
            <a:r>
              <a:rPr lang="en-US" b="true" sz="2512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Repository creation and management</a:t>
            </a:r>
          </a:p>
          <a:p>
            <a:pPr algn="just" marL="0" indent="0" lvl="0">
              <a:lnSpc>
                <a:spcPts val="3517"/>
              </a:lnSpc>
            </a:pPr>
            <a:r>
              <a:rPr lang="en-US" b="true" sz="2512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Branching and version control</a:t>
            </a:r>
          </a:p>
          <a:p>
            <a:pPr algn="just" marL="0" indent="0" lvl="0">
              <a:lnSpc>
                <a:spcPts val="3517"/>
              </a:lnSpc>
            </a:pPr>
            <a:r>
              <a:rPr lang="en-US" b="true" sz="2512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Collaboration tools</a:t>
            </a:r>
          </a:p>
          <a:p>
            <a:pPr algn="just" marL="0" indent="0" lvl="0">
              <a:lnSpc>
                <a:spcPts val="3517"/>
              </a:lnSpc>
            </a:pPr>
            <a:r>
              <a:rPr lang="en-US" b="true" sz="2512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Simple, fast, and privacy-focused design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554750" y="2322242"/>
            <a:ext cx="9178501" cy="806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643"/>
              </a:lnSpc>
            </a:pPr>
            <a:r>
              <a:rPr lang="en-US" b="true" sz="4745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PROJECT IDEA &amp;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664505" y="8541547"/>
            <a:ext cx="1932408" cy="2663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744"/>
              </a:lnSpc>
            </a:pPr>
            <a:r>
              <a:rPr lang="en-US" b="true" sz="7674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3</a:t>
            </a:r>
          </a:p>
          <a:p>
            <a:pPr algn="ctr" marL="0" indent="0" lvl="0">
              <a:lnSpc>
                <a:spcPts val="10744"/>
              </a:lnSpc>
            </a:pPr>
          </a:p>
        </p:txBody>
      </p:sp>
      <p:grpSp>
        <p:nvGrpSpPr>
          <p:cNvPr name="Group 9" id="9"/>
          <p:cNvGrpSpPr/>
          <p:nvPr/>
        </p:nvGrpSpPr>
        <p:grpSpPr>
          <a:xfrm rot="0">
            <a:off x="3325325" y="3819693"/>
            <a:ext cx="496986" cy="496986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4206302" y="3753018"/>
            <a:ext cx="10756372" cy="1589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247"/>
              </a:lnSpc>
            </a:pPr>
            <a:r>
              <a:rPr lang="en-US" b="true" sz="3034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Modern platforms like GitHub have become bloated with AI-driven features and corporate control, reducing simplicity and transparency for developers.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554750" y="1890973"/>
            <a:ext cx="9178501" cy="105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94"/>
              </a:lnSpc>
            </a:pPr>
            <a:r>
              <a:rPr lang="en-US" b="true" sz="621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PROBLEM &amp; MOTIVATION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3325325" y="6225244"/>
            <a:ext cx="496986" cy="496986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4206302" y="6158569"/>
            <a:ext cx="10756372" cy="2123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247"/>
              </a:lnSpc>
            </a:pPr>
            <a:r>
              <a:rPr lang="en-US" b="true" sz="3034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Developers need a clean, independent, and efficient environment for collaboration and version control — one that prioritizes speed, privacy, and open-source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81814" y="8728040"/>
            <a:ext cx="1477734" cy="860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183"/>
              </a:lnSpc>
            </a:pPr>
            <a:r>
              <a:rPr lang="en-US" b="true" sz="5130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04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554750" y="2243819"/>
            <a:ext cx="9178501" cy="106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32"/>
              </a:lnSpc>
            </a:pPr>
            <a:r>
              <a:rPr lang="en-US" b="true" sz="6165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REQUIREMENTS &amp; SCOPE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49124" y="5272336"/>
            <a:ext cx="6909113" cy="2461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10031" indent="-305016" lvl="1">
              <a:lnSpc>
                <a:spcPts val="3955"/>
              </a:lnSpc>
              <a:buFont typeface="Arial"/>
              <a:buChar char="•"/>
            </a:pPr>
            <a:r>
              <a:rPr lang="en-US" b="true" sz="282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Clean UI for repository management</a:t>
            </a:r>
          </a:p>
          <a:p>
            <a:pPr algn="l" marL="610031" indent="-305016" lvl="1">
              <a:lnSpc>
                <a:spcPts val="3955"/>
              </a:lnSpc>
              <a:buFont typeface="Arial"/>
              <a:buChar char="•"/>
            </a:pPr>
            <a:r>
              <a:rPr lang="en-US" b="true" sz="282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Core Git features (commit, branch, pull, push)</a:t>
            </a:r>
          </a:p>
          <a:p>
            <a:pPr algn="l" marL="610031" indent="-305016" lvl="1">
              <a:lnSpc>
                <a:spcPts val="3955"/>
              </a:lnSpc>
              <a:buFont typeface="Arial"/>
              <a:buChar char="•"/>
            </a:pPr>
            <a:r>
              <a:rPr lang="en-US" b="true" sz="282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Collaboration between users</a:t>
            </a:r>
          </a:p>
          <a:p>
            <a:pPr algn="l" marL="610031" indent="-305016" lvl="1">
              <a:lnSpc>
                <a:spcPts val="3955"/>
              </a:lnSpc>
              <a:buFont typeface="Arial"/>
              <a:buChar char="•"/>
            </a:pPr>
            <a:r>
              <a:rPr lang="en-US" b="true" sz="282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High performance and security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12417" y="3961862"/>
            <a:ext cx="4884666" cy="8623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0"/>
              </a:lnSpc>
            </a:pPr>
            <a:r>
              <a:rPr lang="en-US" b="true" sz="505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REQUIREMENTS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581662" y="3961862"/>
            <a:ext cx="1049196" cy="8623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07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9529762" y="5272336"/>
            <a:ext cx="7429785" cy="2461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10031" indent="-305016" lvl="1">
              <a:lnSpc>
                <a:spcPts val="3955"/>
              </a:lnSpc>
              <a:buFont typeface="Arial"/>
              <a:buChar char="•"/>
            </a:pPr>
            <a:r>
              <a:rPr lang="en-US" b="true" sz="282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Web-based platform for essential Git functionalities</a:t>
            </a:r>
          </a:p>
          <a:p>
            <a:pPr algn="l" marL="610031" indent="-305016" lvl="1">
              <a:lnSpc>
                <a:spcPts val="3955"/>
              </a:lnSpc>
              <a:buFont typeface="Arial"/>
              <a:buChar char="•"/>
            </a:pPr>
            <a:r>
              <a:rPr lang="en-US" b="true" sz="282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No AI tools integrated</a:t>
            </a:r>
          </a:p>
          <a:p>
            <a:pPr algn="l" marL="610031" indent="-305016" lvl="1">
              <a:lnSpc>
                <a:spcPts val="3955"/>
              </a:lnSpc>
              <a:buFont typeface="Arial"/>
              <a:buChar char="•"/>
            </a:pPr>
            <a:r>
              <a:rPr lang="en-US" b="true" sz="282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Limited time and resources</a:t>
            </a:r>
          </a:p>
          <a:p>
            <a:pPr algn="l" marL="610031" indent="-305016" lvl="1">
              <a:lnSpc>
                <a:spcPts val="3955"/>
              </a:lnSpc>
              <a:buFont typeface="Arial"/>
              <a:buChar char="•"/>
            </a:pPr>
            <a:r>
              <a:rPr lang="en-US" b="true" sz="2825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Advanced features excluded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90918" y="3961862"/>
            <a:ext cx="4884666" cy="8623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0"/>
              </a:lnSpc>
            </a:pPr>
            <a:r>
              <a:rPr lang="en-US" b="true" sz="505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SCOPE &amp; LIMITS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529762" y="3961862"/>
            <a:ext cx="1049196" cy="8623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070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81814" y="8708990"/>
            <a:ext cx="1477734" cy="9939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216"/>
              </a:lnSpc>
            </a:pPr>
            <a:r>
              <a:rPr lang="en-US" b="true" sz="5868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05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554750" y="2215244"/>
            <a:ext cx="9178501" cy="1439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863"/>
              </a:lnSpc>
            </a:pPr>
            <a:r>
              <a:rPr lang="en-US" b="true" sz="8474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ANALYSIS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55319" y="3942812"/>
            <a:ext cx="14777362" cy="4333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82"/>
              </a:lnSpc>
            </a:pPr>
            <a:r>
              <a:rPr lang="en-US" b="true" sz="620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USE CASE DIAGRAMS</a:t>
            </a:r>
          </a:p>
          <a:p>
            <a:pPr algn="l">
              <a:lnSpc>
                <a:spcPts val="8682"/>
              </a:lnSpc>
            </a:pPr>
            <a:r>
              <a:rPr lang="en-US" b="true" sz="620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CLASS DIAGRAMS</a:t>
            </a:r>
          </a:p>
          <a:p>
            <a:pPr algn="l">
              <a:lnSpc>
                <a:spcPts val="8682"/>
              </a:lnSpc>
            </a:pPr>
            <a:r>
              <a:rPr lang="en-US" b="true" sz="620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ACTIVITY DIAGRAMS</a:t>
            </a:r>
          </a:p>
          <a:p>
            <a:pPr algn="l" marL="0" indent="0" lvl="0">
              <a:lnSpc>
                <a:spcPts val="8682"/>
              </a:lnSpc>
            </a:pPr>
            <a:r>
              <a:rPr lang="en-US" b="true" sz="620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&amp; MORE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99275" y="3952337"/>
            <a:ext cx="1049196" cy="977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87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8747375" y="3952337"/>
            <a:ext cx="1049196" cy="977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87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81814" y="8708990"/>
            <a:ext cx="1477734" cy="9939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216"/>
              </a:lnSpc>
            </a:pPr>
            <a:r>
              <a:rPr lang="en-US" b="true" sz="5868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325325" y="3819693"/>
            <a:ext cx="496986" cy="496986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4206302" y="3753018"/>
            <a:ext cx="10756372" cy="2123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244"/>
              </a:lnSpc>
            </a:pPr>
            <a:r>
              <a:rPr lang="en-US" b="true" sz="303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init, add, commit, push, pull, clone – Initialize repositories, stage files, save changes with metadata, upload/download commits, and copy remote repositories for local development.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554750" y="1852873"/>
            <a:ext cx="9178501" cy="1439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863"/>
              </a:lnSpc>
            </a:pPr>
            <a:r>
              <a:rPr lang="en-US" b="true" sz="8474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CORE COMMANDS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3325325" y="6225244"/>
            <a:ext cx="496986" cy="496986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4206302" y="6158569"/>
            <a:ext cx="10756372" cy="2123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244"/>
              </a:lnSpc>
            </a:pPr>
            <a:r>
              <a:rPr lang="en-US" b="true" sz="303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branch, merge, fetch, tag, log – Create and manage branches, combine code with conflict detection using SHA256 hashing and LCS algorithm, retrieve remote updates, label versions, and display commit history.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81814" y="8756615"/>
            <a:ext cx="1477734" cy="538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28"/>
              </a:lnSpc>
            </a:pPr>
            <a:r>
              <a:rPr lang="en-US" b="true" sz="3163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07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106260" y="2253344"/>
            <a:ext cx="12375554" cy="10364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495"/>
              </a:lnSpc>
            </a:pPr>
            <a:r>
              <a:rPr lang="en-US" b="true" sz="6067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ARCHITECTURE &amp; TECHNOLOGIES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67319" y="4864468"/>
            <a:ext cx="5467331" cy="2508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992"/>
              </a:lnSpc>
            </a:pPr>
            <a:r>
              <a:rPr lang="en-US" b="true" sz="285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 Language powers the Git engine for maximum performance, efficiency, and low-level control over version control operations.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67319" y="3980912"/>
            <a:ext cx="4884666" cy="606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19"/>
              </a:lnSpc>
            </a:pPr>
            <a:r>
              <a:rPr lang="en-US" b="true" sz="3513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CORE ENGINE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581662" y="3999962"/>
            <a:ext cx="1049196" cy="5305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359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1031512" y="4864468"/>
            <a:ext cx="4450302" cy="2461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968"/>
              </a:lnSpc>
            </a:pPr>
            <a:r>
              <a:rPr lang="en-US" b="true" sz="2834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React + TypeScript frontend, Express backend, PostgreSQL + Supabase database, And JWT authentication.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821672" y="3980912"/>
            <a:ext cx="4884666" cy="606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919"/>
              </a:lnSpc>
            </a:pPr>
            <a:r>
              <a:rPr lang="en-US" b="true" sz="3513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WEB STACK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529762" y="3999962"/>
            <a:ext cx="1049196" cy="5305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359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81814" y="8756615"/>
            <a:ext cx="1477734" cy="506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127"/>
              </a:lnSpc>
            </a:pPr>
            <a:r>
              <a:rPr lang="en-US" b="true" sz="2948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09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088353" y="2869927"/>
            <a:ext cx="11132328" cy="845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40"/>
              </a:lnSpc>
            </a:pPr>
            <a:r>
              <a:rPr lang="en-US" b="true" sz="4957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KEY IMPLEMENTATION HIGHLIGHTS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02914" y="4360322"/>
            <a:ext cx="13455389" cy="31902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232"/>
              </a:lnSpc>
            </a:pPr>
            <a:r>
              <a:rPr lang="en-US" b="true" sz="30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Efficient C-based Git engine for performance</a:t>
            </a:r>
          </a:p>
          <a:p>
            <a:pPr algn="just" marL="0" indent="0" lvl="0">
              <a:lnSpc>
                <a:spcPts val="4232"/>
              </a:lnSpc>
            </a:pPr>
            <a:r>
              <a:rPr lang="en-US" b="true" sz="30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SHA256 hashing for file comparison &amp; integrity</a:t>
            </a:r>
          </a:p>
          <a:p>
            <a:pPr algn="just" marL="0" indent="0" lvl="0">
              <a:lnSpc>
                <a:spcPts val="4232"/>
              </a:lnSpc>
            </a:pPr>
            <a:r>
              <a:rPr lang="en-US" b="true" sz="30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LCS algorithm for merge conflict detection</a:t>
            </a:r>
          </a:p>
          <a:p>
            <a:pPr algn="just" marL="0" indent="0" lvl="0">
              <a:lnSpc>
                <a:spcPts val="4232"/>
              </a:lnSpc>
            </a:pPr>
            <a:r>
              <a:rPr lang="en-US" b="true" sz="30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zlib compression for optimized storage</a:t>
            </a:r>
          </a:p>
          <a:p>
            <a:pPr algn="just" marL="0" indent="0" lvl="0">
              <a:lnSpc>
                <a:spcPts val="4232"/>
              </a:lnSpc>
            </a:pPr>
            <a:r>
              <a:rPr lang="en-US" b="true" sz="30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Secure JWT authentication system</a:t>
            </a:r>
          </a:p>
          <a:p>
            <a:pPr algn="just" marL="0" indent="0" lvl="0">
              <a:lnSpc>
                <a:spcPts val="4232"/>
              </a:lnSpc>
            </a:pPr>
            <a:r>
              <a:rPr lang="en-US" b="true" sz="30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Modular Express middleware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81814" y="8756615"/>
            <a:ext cx="1477734" cy="506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127"/>
              </a:lnSpc>
            </a:pPr>
            <a:r>
              <a:rPr lang="en-US" b="true" sz="2948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09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21852" y="933450"/>
            <a:ext cx="11132328" cy="845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40"/>
              </a:lnSpc>
            </a:pPr>
            <a:r>
              <a:rPr lang="en-US" b="true" sz="4957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TASK DISTRIBUTION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26454" y="1972264"/>
            <a:ext cx="13455389" cy="2266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Bilal: Fetch, Add, Clone and Main Front-End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Patrick:  Tag, Status, Checkout and Support Front-End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Omar: Init, Push, Pull, Log, Database and Support Back-End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Charbel: Init, Commit and Main Back-End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Team: Merge and Branch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21852" y="5343928"/>
            <a:ext cx="11132328" cy="845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40"/>
              </a:lnSpc>
            </a:pPr>
            <a:r>
              <a:rPr lang="en-US" b="true" sz="4957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CONCLUSION AND PROGRESS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21852" y="6643114"/>
            <a:ext cx="13455389" cy="1352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Core commands successfully completed.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Back-end and Front-end connections established. 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Database fully configured using Supabase. 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657600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14634337" y="8834213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4626463" y="-573114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81814" y="8756615"/>
            <a:ext cx="1477734" cy="506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127"/>
              </a:lnSpc>
            </a:pPr>
            <a:r>
              <a:rPr lang="en-US" b="true" sz="2948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09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2914" y="1604634"/>
            <a:ext cx="11132328" cy="845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40"/>
              </a:lnSpc>
            </a:pPr>
            <a:r>
              <a:rPr lang="en-US" b="true" sz="4957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CHALLENGES FACED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02914" y="2624988"/>
            <a:ext cx="13455389" cy="1809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Limited time and energy constraints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Burnout from multiple academic projects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Struggles and real-life pressure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Features postponed: grep, describe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02914" y="5566132"/>
            <a:ext cx="11132328" cy="845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40"/>
              </a:lnSpc>
            </a:pPr>
            <a:r>
              <a:rPr lang="en-US" b="true" sz="4957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FUTURE VISIONS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02914" y="6583217"/>
            <a:ext cx="13455389" cy="1352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Continue development with community support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Enhance performance and add new features</a:t>
            </a:r>
          </a:p>
          <a:p>
            <a:pPr algn="l" marL="566349" indent="-283174" lvl="1">
              <a:lnSpc>
                <a:spcPts val="3672"/>
              </a:lnSpc>
              <a:buFont typeface="Arial"/>
              <a:buChar char="•"/>
            </a:pPr>
            <a:r>
              <a:rPr lang="en-US" b="true" sz="2623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Evolve into great open-source alternative to Microsoft’s GitHub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-3649725" y="7788149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14622525" y="472949"/>
            <a:ext cx="7315200" cy="2025901"/>
          </a:xfrm>
          <a:custGeom>
            <a:avLst/>
            <a:gdLst/>
            <a:ahLst/>
            <a:cxnLst/>
            <a:rect r="r" b="b" t="t" l="l"/>
            <a:pathLst>
              <a:path h="2025901" w="7315200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-1590281" y="9258300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125630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1590281" y="-2166706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2563081" y="9263294"/>
            <a:ext cx="7315200" cy="3195406"/>
          </a:xfrm>
          <a:custGeom>
            <a:avLst/>
            <a:gdLst/>
            <a:ahLst/>
            <a:cxnLst/>
            <a:rect r="r" b="b" t="t" l="l"/>
            <a:pathLst>
              <a:path h="3195406" w="7315200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596732" y="3079069"/>
            <a:ext cx="13094536" cy="2064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937"/>
              </a:lnSpc>
            </a:pPr>
            <a:r>
              <a:rPr lang="en-US" b="true" sz="12098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THANK YOU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596732" y="5360691"/>
            <a:ext cx="13094536" cy="1111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099"/>
              </a:lnSpc>
            </a:pPr>
            <a:r>
              <a:rPr lang="en-US" b="true" sz="6499" u="sng">
                <a:solidFill>
                  <a:srgbClr val="FDA410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DEMO TIME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DAHJoXPW-OA</dc:identifier>
  <dcterms:modified xsi:type="dcterms:W3CDTF">2011-08-01T06:04:30Z</dcterms:modified>
  <cp:revision>1</cp:revision>
  <dc:title>Non Text Magic Studio Magic Design for Presentations L&amp;P</dc:title>
</cp:coreProperties>
</file>