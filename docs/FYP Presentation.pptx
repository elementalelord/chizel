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ileron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lear Sa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2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7788149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2"/>
                </a:lnTo>
                <a:lnTo>
                  <a:pt x="0" y="202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4622525" y="472949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2"/>
                </a:lnTo>
                <a:lnTo>
                  <a:pt x="0" y="202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5902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2563081" y="9263294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96732" y="3624625"/>
            <a:ext cx="13094536" cy="1384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340"/>
              </a:lnSpc>
            </a:pPr>
            <a:r>
              <a:rPr lang="en-US" sz="8100" b="1" dirty="0" err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Chizel</a:t>
            </a:r>
            <a:r>
              <a:rPr lang="en-US" sz="8100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– Source Control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09760" y="5394066"/>
            <a:ext cx="9468479" cy="688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43"/>
              </a:lnSpc>
            </a:pPr>
            <a:r>
              <a:rPr lang="en-US" sz="4030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Final Year Project - Presented By: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51939" y="6341069"/>
            <a:ext cx="3784122" cy="1929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5"/>
              </a:lnSpc>
            </a:pPr>
            <a:r>
              <a:rPr lang="en-US" sz="2775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Bilal Hammoud</a:t>
            </a:r>
          </a:p>
          <a:p>
            <a:pPr algn="ctr">
              <a:lnSpc>
                <a:spcPts val="3885"/>
              </a:lnSpc>
            </a:pPr>
            <a:r>
              <a:rPr lang="en-US" sz="2775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Omar Hammoud</a:t>
            </a:r>
          </a:p>
          <a:p>
            <a:pPr algn="ctr">
              <a:lnSpc>
                <a:spcPts val="3885"/>
              </a:lnSpc>
            </a:pPr>
            <a:r>
              <a:rPr lang="en-US" sz="2775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Charbel Fares</a:t>
            </a:r>
          </a:p>
          <a:p>
            <a:pPr marL="0" lvl="0" indent="0" algn="ctr">
              <a:lnSpc>
                <a:spcPts val="3885"/>
              </a:lnSpc>
            </a:pPr>
            <a:r>
              <a:rPr lang="en-US" sz="2775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Patrick Farah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657600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634337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626463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58745" y="3473994"/>
            <a:ext cx="15170510" cy="489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517"/>
              </a:lnSpc>
            </a:pPr>
            <a:r>
              <a:rPr lang="en-US" sz="2512" b="1" dirty="0" err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Chizel</a:t>
            </a:r>
            <a:r>
              <a:rPr lang="en-US" sz="2512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is a lightweight, open-source alternative to GitHub, built to provide essential version control and collaboration features without AI integration or corporate complexity.</a:t>
            </a:r>
          </a:p>
          <a:p>
            <a:pPr marL="0" lvl="0" indent="0" algn="just">
              <a:lnSpc>
                <a:spcPts val="3517"/>
              </a:lnSpc>
            </a:pPr>
            <a:endParaRPr lang="en-US" sz="2512" b="1" dirty="0">
              <a:solidFill>
                <a:srgbClr val="FFFFF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0" lvl="0" indent="0" algn="just">
              <a:lnSpc>
                <a:spcPts val="3517"/>
              </a:lnSpc>
            </a:pPr>
            <a:r>
              <a:rPr lang="en-US" sz="2512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Objective: Create a transparent, efficient, and developer-focused platform using C for performance and React for usability.</a:t>
            </a:r>
          </a:p>
          <a:p>
            <a:pPr marL="0" lvl="0" indent="0" algn="just">
              <a:lnSpc>
                <a:spcPts val="3517"/>
              </a:lnSpc>
            </a:pPr>
            <a:endParaRPr lang="en-US" sz="2512" b="1" dirty="0">
              <a:solidFill>
                <a:srgbClr val="FFFFF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0" lvl="0" indent="0" algn="just">
              <a:lnSpc>
                <a:spcPts val="3517"/>
              </a:lnSpc>
            </a:pPr>
            <a:r>
              <a:rPr lang="en-US" sz="2512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Key Features:</a:t>
            </a:r>
          </a:p>
          <a:p>
            <a:pPr marL="0" lvl="0" indent="0" algn="just">
              <a:lnSpc>
                <a:spcPts val="3517"/>
              </a:lnSpc>
            </a:pPr>
            <a:r>
              <a:rPr lang="en-US" sz="2512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Repository creation and management</a:t>
            </a:r>
          </a:p>
          <a:p>
            <a:pPr marL="0" lvl="0" indent="0" algn="just">
              <a:lnSpc>
                <a:spcPts val="3517"/>
              </a:lnSpc>
            </a:pPr>
            <a:r>
              <a:rPr lang="en-US" sz="2512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Branching and version control</a:t>
            </a:r>
          </a:p>
          <a:p>
            <a:pPr marL="0" lvl="0" indent="0" algn="just">
              <a:lnSpc>
                <a:spcPts val="3517"/>
              </a:lnSpc>
            </a:pPr>
            <a:r>
              <a:rPr lang="en-US" sz="2512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Collaboration tools</a:t>
            </a:r>
          </a:p>
          <a:p>
            <a:pPr marL="0" lvl="0" indent="0" algn="just">
              <a:lnSpc>
                <a:spcPts val="3517"/>
              </a:lnSpc>
            </a:pPr>
            <a:r>
              <a:rPr lang="en-US" sz="2512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Simple, fast, and privacy-focused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54750" y="2322242"/>
            <a:ext cx="9178501" cy="806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43"/>
              </a:lnSpc>
            </a:pPr>
            <a:r>
              <a:rPr lang="en-US" sz="4745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PROJECT IDEA &amp;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657600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634337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626463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664505" y="8541547"/>
            <a:ext cx="1932408" cy="266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44"/>
              </a:lnSpc>
            </a:pPr>
            <a:r>
              <a:rPr lang="en-US" sz="7674" b="1">
                <a:solidFill>
                  <a:srgbClr val="26272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3</a:t>
            </a:r>
          </a:p>
          <a:p>
            <a:pPr marL="0" lvl="0" indent="0" algn="ctr">
              <a:lnSpc>
                <a:spcPts val="10744"/>
              </a:lnSpc>
            </a:pPr>
            <a:endParaRPr lang="en-US" sz="7674" b="1">
              <a:solidFill>
                <a:srgbClr val="26272B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3325325" y="3819693"/>
            <a:ext cx="496986" cy="49698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206302" y="3753018"/>
            <a:ext cx="10756372" cy="158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47"/>
              </a:lnSpc>
            </a:pPr>
            <a:r>
              <a:rPr lang="en-US" sz="3034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Modern platforms like GitHub have become bloated with AI-driven features and corporate control, reducing simplicity and transparency for developers.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54750" y="1890973"/>
            <a:ext cx="9178501" cy="1058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94"/>
              </a:lnSpc>
            </a:pPr>
            <a:r>
              <a:rPr lang="en-US" sz="621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PROBLEM &amp; MOTIVATION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325325" y="6225244"/>
            <a:ext cx="496986" cy="49698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206302" y="6158569"/>
            <a:ext cx="10756372" cy="1570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47"/>
              </a:lnSpc>
            </a:pPr>
            <a:r>
              <a:rPr lang="en-US" sz="3034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Developers need a clean, independent, and efficient environment for collaboration and version control; One that prioritizes speed, privacy, and transparency.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657600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634337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626463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481814" y="8728040"/>
            <a:ext cx="1477734" cy="86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83"/>
              </a:lnSpc>
            </a:pPr>
            <a:r>
              <a:rPr lang="en-US" sz="5130" b="1">
                <a:solidFill>
                  <a:srgbClr val="26272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54750" y="2243819"/>
            <a:ext cx="9178501" cy="10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32"/>
              </a:lnSpc>
            </a:pPr>
            <a:r>
              <a:rPr lang="en-US" sz="6165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REQUIREMENTS &amp; 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9124" y="5272336"/>
            <a:ext cx="6909113" cy="246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0031" lvl="1" indent="-305016" algn="l">
              <a:lnSpc>
                <a:spcPts val="3955"/>
              </a:lnSpc>
              <a:buFont typeface="Arial"/>
              <a:buChar char="•"/>
            </a:pPr>
            <a:r>
              <a:rPr lang="en-US" sz="2825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Clean UI for repository management</a:t>
            </a:r>
          </a:p>
          <a:p>
            <a:pPr marL="610031" lvl="1" indent="-305016" algn="l">
              <a:lnSpc>
                <a:spcPts val="3955"/>
              </a:lnSpc>
              <a:buFont typeface="Arial"/>
              <a:buChar char="•"/>
            </a:pPr>
            <a:r>
              <a:rPr lang="en-US" sz="2825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Core Git features (commit, branch, pull, push)</a:t>
            </a:r>
          </a:p>
          <a:p>
            <a:pPr marL="610031" lvl="1" indent="-305016" algn="l">
              <a:lnSpc>
                <a:spcPts val="3955"/>
              </a:lnSpc>
              <a:buFont typeface="Arial"/>
              <a:buChar char="•"/>
            </a:pPr>
            <a:r>
              <a:rPr lang="en-US" sz="2825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Collaboration between users</a:t>
            </a:r>
          </a:p>
          <a:p>
            <a:pPr marL="610031" lvl="1" indent="-305016" algn="l">
              <a:lnSpc>
                <a:spcPts val="3955"/>
              </a:lnSpc>
              <a:buFont typeface="Arial"/>
              <a:buChar char="•"/>
            </a:pPr>
            <a:r>
              <a:rPr lang="en-US" sz="2825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High performance and security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12417" y="3961862"/>
            <a:ext cx="4884666" cy="862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70"/>
              </a:lnSpc>
            </a:pPr>
            <a:r>
              <a:rPr lang="en-US" sz="5050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REQUIREMENTS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81662" y="3961862"/>
            <a:ext cx="1049196" cy="862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0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9562586" y="4863728"/>
            <a:ext cx="7429785" cy="149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0031" lvl="1" indent="-305016" algn="l">
              <a:lnSpc>
                <a:spcPts val="3955"/>
              </a:lnSpc>
              <a:buFont typeface="Arial"/>
              <a:buChar char="•"/>
            </a:pPr>
            <a:r>
              <a:rPr lang="en-US" sz="2825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Web-based platform for essential Git functionalities</a:t>
            </a:r>
          </a:p>
          <a:p>
            <a:pPr marL="610031" lvl="1" indent="-305016" algn="l">
              <a:lnSpc>
                <a:spcPts val="3955"/>
              </a:lnSpc>
              <a:buFont typeface="Arial"/>
              <a:buChar char="•"/>
            </a:pPr>
            <a:r>
              <a:rPr lang="en-US" sz="2825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No AI tools integration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32431" y="3940184"/>
            <a:ext cx="4884666" cy="862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70"/>
              </a:lnSpc>
            </a:pPr>
            <a:r>
              <a:rPr lang="en-US" sz="5050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29762" y="3961862"/>
            <a:ext cx="1049196" cy="862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0"/>
              </a:lnSpc>
            </a:pPr>
            <a:endParaRPr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D7EAF9FD-0835-4B3A-9942-949B2C5D6FAF}"/>
              </a:ext>
            </a:extLst>
          </p:cNvPr>
          <p:cNvSpPr txBox="1"/>
          <p:nvPr/>
        </p:nvSpPr>
        <p:spPr>
          <a:xfrm>
            <a:off x="10032431" y="6517346"/>
            <a:ext cx="4884666" cy="84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70"/>
              </a:lnSpc>
            </a:pPr>
            <a:r>
              <a:rPr lang="en-US" sz="5050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LIMITS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C2B8E195-7542-44EC-99F7-0334B14F0766}"/>
              </a:ext>
            </a:extLst>
          </p:cNvPr>
          <p:cNvSpPr txBox="1"/>
          <p:nvPr/>
        </p:nvSpPr>
        <p:spPr>
          <a:xfrm>
            <a:off x="9489888" y="7510281"/>
            <a:ext cx="7429785" cy="98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0031" lvl="1" indent="-305016" algn="l">
              <a:lnSpc>
                <a:spcPts val="3955"/>
              </a:lnSpc>
              <a:buFont typeface="Arial"/>
              <a:buChar char="•"/>
            </a:pPr>
            <a:r>
              <a:rPr lang="en-US" sz="2825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Limited time and resources</a:t>
            </a:r>
          </a:p>
          <a:p>
            <a:pPr marL="610031" lvl="1" indent="-305016" algn="l">
              <a:lnSpc>
                <a:spcPts val="3955"/>
              </a:lnSpc>
              <a:buFont typeface="Arial"/>
              <a:buChar char="•"/>
            </a:pPr>
            <a:r>
              <a:rPr lang="en-US" sz="2825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Advanced features excluded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657600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634337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626463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481814" y="8708990"/>
            <a:ext cx="1477734" cy="99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16"/>
              </a:lnSpc>
            </a:pPr>
            <a:r>
              <a:rPr lang="en-US" sz="5868" b="1">
                <a:solidFill>
                  <a:srgbClr val="26272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54750" y="2215244"/>
            <a:ext cx="9178501" cy="143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863"/>
              </a:lnSpc>
            </a:pPr>
            <a:r>
              <a:rPr lang="en-US" sz="8474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5319" y="3942812"/>
            <a:ext cx="14777362" cy="4333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2"/>
              </a:lnSpc>
            </a:pPr>
            <a:r>
              <a:rPr lang="en-US" sz="6201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USE CASE DIAGRAMS</a:t>
            </a:r>
          </a:p>
          <a:p>
            <a:pPr algn="l">
              <a:lnSpc>
                <a:spcPts val="8682"/>
              </a:lnSpc>
            </a:pPr>
            <a:r>
              <a:rPr lang="en-US" sz="6201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CLASS DIAGRAMS</a:t>
            </a:r>
          </a:p>
          <a:p>
            <a:pPr algn="l">
              <a:lnSpc>
                <a:spcPts val="8682"/>
              </a:lnSpc>
            </a:pPr>
            <a:r>
              <a:rPr lang="en-US" sz="6201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ACTIVITY DIAGRAMS</a:t>
            </a:r>
          </a:p>
          <a:p>
            <a:pPr marL="0" lvl="0" indent="0" algn="l">
              <a:lnSpc>
                <a:spcPts val="8682"/>
              </a:lnSpc>
            </a:pPr>
            <a:r>
              <a:rPr lang="en-US" sz="6201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&amp; MORE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99275" y="3952337"/>
            <a:ext cx="1049196" cy="977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87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8747375" y="3952337"/>
            <a:ext cx="1049196" cy="977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87"/>
              </a:lnSpc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657600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634337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626463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481814" y="8708990"/>
            <a:ext cx="1477734" cy="99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16"/>
              </a:lnSpc>
            </a:pPr>
            <a:r>
              <a:rPr lang="en-US" sz="5868" b="1">
                <a:solidFill>
                  <a:srgbClr val="26272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325325" y="3819693"/>
            <a:ext cx="496986" cy="49698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206302" y="3753018"/>
            <a:ext cx="10756372" cy="2123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44"/>
              </a:lnSpc>
            </a:pPr>
            <a:r>
              <a:rPr lang="en-US" sz="3031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init, add, commit, push, pull, clone – Initialize repositories, stage files, save changes with metadata, upload/download commits, and copy remote repositories for local development.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54750" y="1852873"/>
            <a:ext cx="9178501" cy="143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863"/>
              </a:lnSpc>
            </a:pPr>
            <a:r>
              <a:rPr lang="en-US" sz="8474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CORE COMMANDS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325325" y="6225244"/>
            <a:ext cx="496986" cy="49698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206302" y="6158569"/>
            <a:ext cx="10756372" cy="2123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44"/>
              </a:lnSpc>
            </a:pPr>
            <a:r>
              <a:rPr lang="en-US" sz="3031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branch, merge, fetch, tag, log – Create and manage branches, combine code with conflict detection using SHA256 hashing and LCS algorithm, retrieve remote updates, label versions, and display commit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657600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634337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626463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481814" y="8756615"/>
            <a:ext cx="1477734" cy="53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28"/>
              </a:lnSpc>
            </a:pPr>
            <a:r>
              <a:rPr lang="en-US" sz="3163" b="1">
                <a:solidFill>
                  <a:srgbClr val="26272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06260" y="2253344"/>
            <a:ext cx="12375554" cy="103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5"/>
              </a:lnSpc>
            </a:pPr>
            <a:r>
              <a:rPr lang="en-US" sz="6067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ARCHITECTURE &amp; TECHNOLOGIES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67319" y="4864468"/>
            <a:ext cx="5467331" cy="2508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92"/>
              </a:lnSpc>
            </a:pPr>
            <a:r>
              <a:rPr lang="en-US" sz="2851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 Language powers the Git engine for maximum performance, efficiency, and low-level control over version control operations.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7319" y="3980912"/>
            <a:ext cx="4884666" cy="60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19"/>
              </a:lnSpc>
            </a:pPr>
            <a:r>
              <a:rPr lang="en-US" sz="3513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CORE ENGINE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81662" y="3999962"/>
            <a:ext cx="1049196" cy="53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5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1031512" y="4864468"/>
            <a:ext cx="4450302" cy="246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68"/>
              </a:lnSpc>
            </a:pPr>
            <a:r>
              <a:rPr lang="en-US" sz="2834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React + TypeScript frontend, Express backend, PostgreSQL + Supabase database, And JWT authentication.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21672" y="3980912"/>
            <a:ext cx="4884666" cy="60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919"/>
              </a:lnSpc>
            </a:pPr>
            <a:r>
              <a:rPr lang="en-US" sz="3513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WEB STACK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29762" y="3999962"/>
            <a:ext cx="1049196" cy="53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59"/>
              </a:lnSpc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657600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634337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626463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481814" y="8756615"/>
            <a:ext cx="1477734" cy="50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27"/>
              </a:lnSpc>
            </a:pPr>
            <a:r>
              <a:rPr lang="en-US" sz="2948" b="1">
                <a:solidFill>
                  <a:srgbClr val="26272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88353" y="2869927"/>
            <a:ext cx="11132328" cy="84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40"/>
              </a:lnSpc>
            </a:pPr>
            <a:r>
              <a:rPr lang="en-US" sz="4957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KEY IMPLEMENTATION HIGHLIGHTS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2914" y="4360322"/>
            <a:ext cx="13455389" cy="372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32"/>
              </a:lnSpc>
            </a:pPr>
            <a:r>
              <a:rPr lang="en-US" sz="30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Efficient C-based Git engine for performance</a:t>
            </a:r>
          </a:p>
          <a:p>
            <a:pPr marL="0" lvl="0" indent="0" algn="just">
              <a:lnSpc>
                <a:spcPts val="4232"/>
              </a:lnSpc>
            </a:pPr>
            <a:r>
              <a:rPr lang="en-US" sz="30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SHA256 hashing for file comparison &amp; integrity</a:t>
            </a:r>
          </a:p>
          <a:p>
            <a:pPr marL="0" lvl="0" indent="0" algn="just">
              <a:lnSpc>
                <a:spcPts val="4232"/>
              </a:lnSpc>
            </a:pPr>
            <a:r>
              <a:rPr lang="en-US" sz="30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SHA1 hashing for separating, handle &amp; storing commits</a:t>
            </a:r>
          </a:p>
          <a:p>
            <a:pPr marL="0" lvl="0" indent="0" algn="just">
              <a:lnSpc>
                <a:spcPts val="4232"/>
              </a:lnSpc>
            </a:pPr>
            <a:r>
              <a:rPr lang="en-US" sz="30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LCS algorithm for merge conflict detection</a:t>
            </a:r>
          </a:p>
          <a:p>
            <a:pPr marL="0" lvl="0" indent="0" algn="just">
              <a:lnSpc>
                <a:spcPts val="4232"/>
              </a:lnSpc>
            </a:pPr>
            <a:r>
              <a:rPr lang="en-US" sz="30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</a:t>
            </a:r>
            <a:r>
              <a:rPr lang="en-US" sz="3023" b="1" dirty="0" err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zlib</a:t>
            </a:r>
            <a:r>
              <a:rPr lang="en-US" sz="30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compression for optimized storage</a:t>
            </a:r>
          </a:p>
          <a:p>
            <a:pPr marL="0" lvl="0" indent="0" algn="just">
              <a:lnSpc>
                <a:spcPts val="4232"/>
              </a:lnSpc>
            </a:pPr>
            <a:r>
              <a:rPr lang="en-US" sz="30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Secure JWT authentication system</a:t>
            </a:r>
          </a:p>
          <a:p>
            <a:pPr marL="0" lvl="0" indent="0" algn="just">
              <a:lnSpc>
                <a:spcPts val="4232"/>
              </a:lnSpc>
            </a:pPr>
            <a:r>
              <a:rPr lang="en-US" sz="30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• Modular Express middleware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657600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634337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626463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481814" y="8756615"/>
            <a:ext cx="1477734" cy="50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27"/>
              </a:lnSpc>
            </a:pPr>
            <a:r>
              <a:rPr lang="en-US" sz="2948" b="1">
                <a:solidFill>
                  <a:srgbClr val="26272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1852" y="933450"/>
            <a:ext cx="11132328" cy="84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40"/>
              </a:lnSpc>
            </a:pPr>
            <a:r>
              <a:rPr lang="en-US" sz="4957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TASK DISTRIBUTION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6454" y="1972264"/>
            <a:ext cx="13455389" cy="2331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Bilal: Fetch, Add, Clone &amp; Main Front-End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Patrick:  Tag, Status, Checkout &amp; Support Front-End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Omar: Init, Push, Pull, Log, Database &amp; Support Back-End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Charbel: Init, Commit, LCS &amp; Main Back-End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Team: Merge &amp; Branch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1852" y="5343928"/>
            <a:ext cx="11132328" cy="84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40"/>
              </a:lnSpc>
            </a:pPr>
            <a:r>
              <a:rPr lang="en-US" sz="4957" b="1" dirty="0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CONCLUSION AND PROGRESS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1852" y="6643114"/>
            <a:ext cx="13455389" cy="138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Core commands successfully completed.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Back-end and Front-end connections established. 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Database fully configured as of current progress.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657600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4634337" y="8834213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4626463" y="-573114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1"/>
                </a:lnTo>
                <a:lnTo>
                  <a:pt x="0" y="202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481814" y="8756615"/>
            <a:ext cx="1477734" cy="50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27"/>
              </a:lnSpc>
            </a:pPr>
            <a:r>
              <a:rPr lang="en-US" sz="2948" b="1">
                <a:solidFill>
                  <a:srgbClr val="26272B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2914" y="1604634"/>
            <a:ext cx="11132328" cy="84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40"/>
              </a:lnSpc>
            </a:pPr>
            <a:r>
              <a:rPr lang="en-US" sz="4957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CHALLENGES FACED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2914" y="2624988"/>
            <a:ext cx="13455389" cy="185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Limited time and energy constraints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Burnout from multiple academic projects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Struggles and real-life pressure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Features postponed: grep, describe, proper pull requests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2914" y="5566132"/>
            <a:ext cx="11132328" cy="84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40"/>
              </a:lnSpc>
            </a:pPr>
            <a:r>
              <a:rPr lang="en-US" sz="4957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FUTURE VISIONS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2914" y="6583217"/>
            <a:ext cx="13455389" cy="2331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Continue development with community support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Enhance performance and add new features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Recode backend in Rust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Proper repository data handling</a:t>
            </a:r>
          </a:p>
          <a:p>
            <a:pPr marL="566349" lvl="1" indent="-283174" algn="l">
              <a:lnSpc>
                <a:spcPts val="3672"/>
              </a:lnSpc>
              <a:buFont typeface="Arial"/>
              <a:buChar char="•"/>
            </a:pPr>
            <a:r>
              <a:rPr lang="en-US" sz="2623" b="1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Evolve into great open-source alternative to Microsoft’s GitHub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649725" y="7788149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2"/>
                </a:lnTo>
                <a:lnTo>
                  <a:pt x="0" y="202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4622525" y="472949"/>
            <a:ext cx="7315200" cy="2025901"/>
          </a:xfrm>
          <a:custGeom>
            <a:avLst/>
            <a:gdLst/>
            <a:ahLst/>
            <a:cxnLst/>
            <a:rect l="l" t="t" r="r" b="b"/>
            <a:pathLst>
              <a:path w="7315200" h="2025901">
                <a:moveTo>
                  <a:pt x="0" y="0"/>
                </a:moveTo>
                <a:lnTo>
                  <a:pt x="7315200" y="0"/>
                </a:lnTo>
                <a:lnTo>
                  <a:pt x="7315200" y="2025902"/>
                </a:lnTo>
                <a:lnTo>
                  <a:pt x="0" y="202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590281" y="9258300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125630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590281" y="-2166706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0" y="3195406"/>
                </a:moveTo>
                <a:lnTo>
                  <a:pt x="7315200" y="3195406"/>
                </a:lnTo>
                <a:lnTo>
                  <a:pt x="7315200" y="0"/>
                </a:lnTo>
                <a:lnTo>
                  <a:pt x="0" y="0"/>
                </a:lnTo>
                <a:lnTo>
                  <a:pt x="0" y="31954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2563081" y="9263294"/>
            <a:ext cx="7315200" cy="3195406"/>
          </a:xfrm>
          <a:custGeom>
            <a:avLst/>
            <a:gdLst/>
            <a:ahLst/>
            <a:cxnLst/>
            <a:rect l="l" t="t" r="r" b="b"/>
            <a:pathLst>
              <a:path w="7315200" h="3195406">
                <a:moveTo>
                  <a:pt x="7315200" y="0"/>
                </a:moveTo>
                <a:lnTo>
                  <a:pt x="0" y="0"/>
                </a:lnTo>
                <a:lnTo>
                  <a:pt x="0" y="3195406"/>
                </a:lnTo>
                <a:lnTo>
                  <a:pt x="7315200" y="3195406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96732" y="3079069"/>
            <a:ext cx="13094536" cy="206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937"/>
              </a:lnSpc>
            </a:pPr>
            <a:r>
              <a:rPr lang="en-US" sz="12098" b="1">
                <a:solidFill>
                  <a:srgbClr val="FFFFFF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96732" y="5360691"/>
            <a:ext cx="13094536" cy="111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99"/>
              </a:lnSpc>
            </a:pPr>
            <a:r>
              <a:rPr lang="en-US" sz="6499" b="1" u="sng">
                <a:solidFill>
                  <a:srgbClr val="FDA41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DEMO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512</Words>
  <Application>Microsoft Office PowerPoint</Application>
  <PresentationFormat>Custom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Clear Sans Bold</vt:lpstr>
      <vt:lpstr>Calibri</vt:lpstr>
      <vt:lpstr>Arial</vt:lpstr>
      <vt:lpstr>Aileron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lastModifiedBy>Bilal Hammoud</cp:lastModifiedBy>
  <cp:revision>2</cp:revision>
  <dcterms:created xsi:type="dcterms:W3CDTF">2006-08-16T00:00:00Z</dcterms:created>
  <dcterms:modified xsi:type="dcterms:W3CDTF">2026-05-14T13:35:18Z</dcterms:modified>
  <dc:identifier>DAHJoXPW-OA</dc:identifier>
</cp:coreProperties>
</file>